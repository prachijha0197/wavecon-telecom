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43A7CD3-94E1-42A9-BAB7-2AFCD9FCBD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1078" y="722903"/>
            <a:ext cx="10495904" cy="2460770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67609B-8FD3-4FF7-8EBC-6619CA868B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1078" y="3428997"/>
            <a:ext cx="10495904" cy="230663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C7A76F-3401-4F50-AE85-8F2AA247B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02E50-D34E-4DD4-8B3B-55D08F25F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53B71-D2FA-4DDC-9C9C-E26F7B591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5700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D8D6B-70A2-430A-9F5D-DA093D8C1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A2845-6CA6-4745-A951-25B8D5319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49424-7A20-4BA1-9F60-671A5DBB3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BD2B2-E17F-402E-8EA3-5C7C1118A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23070-8658-4AC0-B2A3-4BE605A84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632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A69DB7AC-F7D7-430A-A2A7-CD3EBBF1D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6AAF10E-F092-4160-BF4A-FF568555B790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6341C04-9B94-4385-A661-7B8C1700049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4C1D709-6A0F-409C-B2D0-C248E562265E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999BE53-BA11-4B67-BFBB-6281DB50C75D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B662D93-31C1-4DFB-A938-E631F89AA9F0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7ECC8DA-0BEC-4508-89D4-12FA35B481F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7DC8E6C-1B78-4B89-82DD-BBA778CD1482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8E5F54A-0315-4B15-B865-1F0460526260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DD7F352-DE39-4835-8D3F-69CDEC490F1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9D6F20A-F777-4F41-B23B-735A64FA5DA3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1BBADBA-0F74-418B-BC50-AD44596C3EF8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918BE26-88E5-457C-8095-745F34D1536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FB269E0-E058-4340-B93D-7D40FFF521F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DDD9AEE-5501-4385-B339-4616F567B53D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4D29C61-8926-4C98-882B-AB90108C8386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AC585F9-B633-4F7E-AADE-75079DC17158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5DC6366-5525-4FBC-9886-D4409F6B299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CC03CF9-098C-4140-806A-023D3DC3F2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C41BC4-89DF-4EC4-A141-9EF16D8EEB5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32AD067-E64C-499E-9C0A-A725258744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653DD54-FA2B-4B91-A94E-3C46AE21B38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86AC204-156B-442E-B028-01036BD1F2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03512DE-F013-431A-9F6E-ADDA88FB2DD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E95FEE1-61A9-4065-B9F8-5589180AC62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028AA59-C1FA-46C0-BFDD-1C1D3404C81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A5C99EE-B791-470A-8639-0357A751EB4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54F4204-F48B-4AF5-B11E-0CE7D972AC3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76643FE-3966-4B82-9623-C61A56EDD20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DD769C5-B1B1-45BD-A40A-67E6568C843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A511707-50C7-48B2-81F7-5C82BF57795C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38D44F3-CCFE-48A0-8414-FFF5E43D9184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D126FE0-8204-40BB-AD46-4A0C7A475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18115"/>
            <a:ext cx="10312571" cy="278150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5E350-4200-419C-A167-527DD6B77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3753350"/>
            <a:ext cx="10312571" cy="1991572"/>
          </a:xfrm>
        </p:spPr>
        <p:txBody>
          <a:bodyPr/>
          <a:lstStyle>
            <a:lvl1pPr marL="0" indent="0">
              <a:buNone/>
              <a:defRPr lang="en-US" sz="24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6741F519-22CF-4C01-B140-5480DBAB30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5D1550-9064-4767-B70A-3501AF956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E1C33-2E8E-4041-9683-12048CB8A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36992-B921-4F3F-9C4A-0D67E618D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131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CFDF5-4B31-4F1B-83BA-82A951037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312571" cy="13548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EC9A6-F718-4497-8A75-637EE17458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1078" y="2345843"/>
            <a:ext cx="500958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503E57-9695-4508-9778-B3DB1FB5FA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35075" y="2345843"/>
            <a:ext cx="506857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74CEE6-B9DC-4CCC-8F4C-0B4DADFB0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C85191-5804-47C9-95EB-D49D71573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6B0A03-44F6-4299-B45D-E07A02390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795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920E6-CC97-4BD8-92FE-8F36024D0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0"/>
            <a:ext cx="10320062" cy="14075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3872FB-EDD5-42FB-8A9A-279EAD4FB0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2331481"/>
            <a:ext cx="4963444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5F28C1-95C8-476A-8D93-D580DD39D8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1078" y="2954564"/>
            <a:ext cx="4963444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315485-EE1A-41B0-873A-BA9D06E88B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03351" y="2331481"/>
            <a:ext cx="4900298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81A6FB-1583-4A1B-A4A7-C65062C57B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03351" y="2954564"/>
            <a:ext cx="4900298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A29EA7-E61E-4617-9DA9-40B9299B32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/>
          <a:lstStyle/>
          <a:p>
            <a:fld id="{8F72BA41-EC5B-4197-BCC8-0FD2E523CD7A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6249CC-EB72-46A6-87D9-5FBDA8E45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A04EE7-47BE-4ECE-A170-793C4E569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436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E4946-24AD-40DD-95A7-49BA49C22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501177" cy="140123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8CF342-49F6-482D-943E-7E50B1694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4033E5-3797-4FF8-866F-9FD9325A9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DC1E67-424D-4638-98F8-38E71A410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64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45BED274-5EB4-4EF4-B353-E55BD5026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0418BE5-560E-4E49-B12D-B555511FED72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49D1162-73B9-420F-BCBE-95039D00CD2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2BA76FE-316A-48E2-A03B-4E05691C4348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E678FBC-A6AD-4422-BA24-A4172F8862CA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D3C5C3E-2D08-43F0-AFAC-E15360CA7D3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BEAC62-AF92-4A65-9790-6F6E0C6C5A1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C77D7C5-E76E-4E82-BFC4-9A75D2C8089D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66E0152-96B9-4067-80D3-D9BDE6D7EC9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918AFCC-B9DA-4092-8FBA-2CFEDB0388E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1EC7D33-C87E-4812-A722-53C5D99272B5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5F239E3-501A-4C3C-9BE4-6BFA0D3126B7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B62BF3B-95BB-4188-AAE5-015A0EF3D18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14E5F0F-0124-40D0-A0BF-AE307A0E15F4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BADC3B1-26C7-4CF1-B29D-4D0DEA3E2633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0A7DF6E-1132-4A80-9B18-593B1ACD778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EF19589-10D8-4A8F-A0B1-F7CE380E3001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8E6BB32-C4F8-4914-88D3-7DC5E79D023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8F046EE-9DBA-4924-A19C-ED8741F5F81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AABBC44-ABA8-4913-824E-64D34472464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4272B22-1C39-47A0-8551-73666AFBE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8CDFF66-464C-4ABF-BB01-00500A3B75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079FC88-BD3B-4C04-9B90-0FC93C1792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1FCAED8-8687-4141-A7C3-0D88ACEDFEC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65038E6-7B32-460F-B804-D6C105FF44C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C5DAE85-AD17-454B-AB64-CEFF52FDAB9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C603643-2066-4967-AE4B-9DA143843B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37E9533-9B07-43E3-B939-7BADC01FEE8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DCCAAEE-AB2E-4534-893A-3DB109499FB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8BD39A2-970F-4714-AAA6-67EE99A0EAA9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F4A1387-348B-4E46-9B65-FDF76ED0EF20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F5DAF27-A54D-442A-93E4-BA7F04EAE379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EA265F-80A1-448D-A6EB-CE8D6F6EC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15D00D-89E6-4E7A-9A4D-A8CCEB3BE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B5AEA-8C38-4776-878C-AB01474D9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9458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C4853C57-22BC-4465-8B37-DC06FE5A0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2" y="314485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67C0A6-48E9-4845-9EBF-EF2A3DFD2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99914" cy="299658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8B542-2084-485C-ABFC-94340B4C7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8672" y="708102"/>
            <a:ext cx="5656716" cy="543064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47791F-9546-470D-A174-D75285263C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6544"/>
            <a:ext cx="4499914" cy="2162201"/>
          </a:xfrm>
        </p:spPr>
        <p:txBody>
          <a:bodyPr>
            <a:normAutofit/>
          </a:bodyPr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550D594-9D00-4E12-9A7B-8B78EC199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5DEA230-2680-47DD-BD49-FDBF4C1105A5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0BA61D-887F-46F1-B20D-EA4C38D467C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350DFBA-D16D-4AE0-8339-58C4089B94AD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F4AAAA5-CEFC-4C25-91D3-5AE49F720DA5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4D142AD-3FA3-43E4-8A61-61CF1E41568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C3755A3-93F4-4EC4-9635-7E89E4AF1D3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0BFB588-0AB8-4BD8-9272-1CA867726018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45A6DF3-CF29-4480-A235-EAE88D65A63C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D6FF036-365A-4C15-8E15-0D5BBEBCEA58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85E76FF-4E86-4E42-B67E-B11AAE8D3076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1A64CEE-7CED-4EB2-A414-6F2D91E824F9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12C571B-47A6-49EB-A29F-678368BAED9F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160B109-845C-4119-BB66-9887B3859A7D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68B7447-FF64-42D9-B3C6-2BDC6F547ED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FFF9B71-8653-450D-AFBE-2140D586FB5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F0B9E5A-C1DA-445C-A911-721DF98DDCDD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5C9A3DC-A478-4469-9359-34A435689F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7DE3299-EED7-4771-A270-F6B02941AD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434422A-5B59-41DC-8E2A-1A8244580E3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A176117-0990-434B-A9D9-B4B9043C544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7D6425E-C84A-462F-98F8-D0AB4FC3AF8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F13AB68-7321-4AC2-AC60-0F417877D07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E275CCE-D06F-49D0-8A47-372C5040330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D4B374E-EEBC-4A9C-B3B4-B269EC7198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D80A7E6-BBEF-4EF1-B14A-29F26BFCF8E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D7BC013-9B50-459D-8B8D-F756514A478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48964C0-675D-4807-B795-4B695A8F84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6911512-51A8-4CE7-A043-425C809EB5F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3C15D1E-0EDF-4AD7-90C7-3D8D64E645D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8265A2D-2A6A-4301-B59F-8BAD98D9A57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4A4907F-2D1D-49D1-882D-119AA5E1183B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6A2284-37AB-43F5-98B8-8AB49DBFA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D8ABAA-E2F7-4C89-99ED-2C340220D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52EF12-B2CD-4F3C-9F19-A86915405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276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DDA6865-0A03-48FA-AD6E-D5BF8FDE9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277E8EB-0DA2-40E4-AD12-1CCD0D262D0B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5BFE9F8-907A-4FFC-9FDE-2B51D238C4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BDDC323-8732-4007-BB81-1BE917E3B2FF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908FC40-8403-438D-95CA-E4EDC66192A9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411D218-3FEA-4455-9809-91F029FB55AE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541390F-BE50-4E4E-9DA2-B5F23F1A93D8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EB3F094-97B5-48E1-A4DE-8BEED255028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D4DBB43-CB34-4881-9445-A7FE131D5327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B71F972-027A-47F0-996C-84BFE4574050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C41353D-93C8-43F8-BBDE-7AB6B29EC38C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CF07B24-CBD8-4F09-81EB-504285F8E11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27873BB-1D79-4055-801C-BDA0F9A1513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008D42B-2F35-497E-A26D-9AF008619D4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7F57499-C4D9-4B7D-BADA-38462AA3164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271F2B9-1FFA-4350-9370-B098459A232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8FBAFFC-DC8F-4BB4-B405-E4AAA269AED4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94FCE64-D7A5-411A-8795-932DD39F95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0B4ECFC-FD43-44CF-B7FA-2A8C565140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9DFBC12-1E1D-44DE-9966-BAB05B2466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9BEF096-361C-478B-81EB-37584119BFE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FC81993-CE86-4910-B9CE-B69375BDCE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75613D7-9FB0-4D33-8784-EC059DE019C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520AFD9-E849-4F42-99B2-928E6098C29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A200B0B-91CD-4D66-ADFC-9585D283103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5DB0C45-30CE-4C85-95C6-FFF4977C64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DC31604-5F93-436D-A9D2-A48846D4E0D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FF1B965-7DE1-4AE3-B28B-DB6847BC52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FD9FB65-4392-4D6A-8ACC-8151F682BFE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B40380C-3493-4AFE-BF13-AE68A8D244B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CB21DF1-4859-4991-9C10-F8FA68F41013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54AD212-17DC-4506-AAA0-34A46A0B11C3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5B556E7-762B-4E18-A961-A4F7A9ECF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34823" cy="3020519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7118AF-C54D-406D-AABE-AED6576D12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98672" y="713677"/>
            <a:ext cx="5304977" cy="543064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205CDEB9-8DED-4711-8140-4C943FC2CD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314330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E13C3F-6360-4760-9477-C3831A6E26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0330"/>
            <a:ext cx="4434823" cy="2173992"/>
          </a:xfrm>
        </p:spPr>
        <p:txBody>
          <a:bodyPr/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192D3B-60EE-4FC5-9ED7-444530084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CF831E-9B19-4936-8BC9-F62A9B11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71E1D1-F7A2-40D0-91DA-07468A965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139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BD70F-ACE4-4595-845E-2296BDF83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978CD9-E0B5-4B48-8366-91E6D22C9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AF4B4-44D3-4E29-B235-A1B868207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7BA37-9639-480E-84AB-EA277225C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FC658-154E-48DE-AD31-813E5170C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695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65405209-5179-4359-91ED-1B1A46619A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E32344F-3BE0-4CE8-B1BD-9ABD425E1C0D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99DE306-F4FB-4730-A066-ADF38D73956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CB32885-303F-477F-A081-27425944F230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60C0C0B-4CD0-467D-A382-2B2415102C48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788DF0F-327F-43A5-AB71-3D32053D83CA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98A0902-2662-4911-A532-AA6310861479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ABDA4F7-23F4-46D1-8B7E-A21DD84083E1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7FC9FC2-8808-438E-8FFB-5FE416BFB5C8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04694E5-71F9-4210-9BE8-FC12CC177BD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B37E805-A7E5-4906-B0C5-1373F3DA962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4CD964-FBD6-41AB-8A02-9509A2BAC11F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9CD7FF8-E827-4E0A-BCE2-CCB34EDAC0F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C4AD6BB-F1EE-4FB8-96E8-6890447800EC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E935057-E0A3-4DAE-B9C8-6E818D7A7205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08DDF69-1C14-453C-BC3A-37D3FE69DFC7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6C26D82-15BA-4B2E-A42D-2ECA8012D30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7F73B67-E5E9-4000-91DA-034B2127EFD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AFAC1B5-F0DD-4FC0-B4C9-77CB29DF44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ACB3DB-54B2-4CEE-A791-C6FC6C758DA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8324004-1030-47D9-B817-425FF6ECC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AA001C4-81AB-4FA6-ADAA-C8618056353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D1DAD34-7844-4F16-9874-F51F2A23B9E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7DCBC6D-1BDA-4CB1-A3EC-59F240C8FA1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5B3C1A0-58E7-47E4-831B-CF3EE21D1E9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8A09FAA-E123-4FE4-B67A-9EBDE1A313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317B7C6-C816-4A58-B184-135E4FD19F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4D22ABB-4CE8-47DC-80BF-39B3E4CF704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A17DE37-A292-4031-AF42-CDB00A13EE7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73EF673-CB75-435F-9BF3-7594EC3ADF8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35F4581-15F6-47EE-87D0-1132A093DBA5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65CF984-F5BD-45C4-9A12-B02DB4F044E1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ACE66A86-8455-497B-9CA4-F460A19E5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8900000">
            <a:off x="7770390" y="-28737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68C62B-71EF-4824-9EE8-6CAE179842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707774" y="715616"/>
            <a:ext cx="3295876" cy="502659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43E4C8-4AA9-49D7-BF71-1AB5F2CFE1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3588" y="715616"/>
            <a:ext cx="6770448" cy="502659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898B3-014E-440B-BA4E-106339212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C22643-CE63-4C3E-B437-5A1A5EF91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1CE5E-160A-4B37-94E2-3D9DC75BF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201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BDF0D99C-5D42-41C6-A50C-C4E2D6B2A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F28962D-50BA-43F8-8863-28ECE711D3F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80F5939-D4E0-46FD-9A5A-5D648E38109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633D331-78CB-40A1-B167-8185EC5D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C512E4B1-E78E-49E7-AA36-374CC1B084E4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A7D46340-CBFC-490F-B44E-7AA8FBF58B05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575C26C-3EBD-4AA9-BA4D-2561E295D65D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235DB6BE-E065-4559-BF5C-36B56B379040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3DA54272-CD9D-4F68-BBAB-4F0C0C3EC63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A002CE8F-9256-4F2C-B474-58873717119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59C9DE9F-4252-401D-913E-B74C9E326F9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FE4E69B-534F-4A80-9E1C-798BEE1B079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27564E1C-009C-4832-AE8D-E98286693F0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305DF1C-5801-43F2-A8B9-5351369418C0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806E71C8-0783-4E17-9B34-F51231DD2954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D908F17-2A89-4B0A-A2EA-692390969FE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BE22751-380F-44F9-BEED-0A553CF87BE5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7B27910-846F-4E4E-B588-F5B2E026FE9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E6E0501E-134E-46D7-984F-3A382B0BB29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90A83974-CBD7-4A69-9D84-2D3BBDE027A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503E931-00D4-4B0C-BC69-49FE5C76651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97732A30-BE2F-4D71-BC37-60F7B44591B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0C8EB840-DE7D-4E67-989C-F4D8F50E15B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F05D2CC2-53CC-487E-A72E-42B1E9B1846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03A12D6B-1D60-4F26-8FB9-74AD5B070BD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41895D00-2D63-443C-95A8-5EB6E5EECBF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6AC50652-2A56-4382-95D0-971644EE0FA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DA50A374-8880-482D-B54F-F74E0D7BE18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C66364D8-CCC7-4AAF-94BC-766EC160D9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4A0DC409-26E2-4453-89FD-745EA849BE7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39ED039-D66C-4A5E-AA35-E7A5FA2E64C2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C72C13DC-161E-49CF-96B5-5383AA052AB7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103067-48DA-458C-99F6-9921C19A8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1"/>
            <a:ext cx="10325000" cy="14424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B86862-507E-4F73-890F-3B77BCFA3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9" y="2340131"/>
            <a:ext cx="10325000" cy="35644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FBC0BB-AF05-4753-9159-41A16FBFC3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3587" y="6215870"/>
            <a:ext cx="3843779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72BA41-EC5B-4197-BCC8-0FD2E523CD7A}" type="datetimeFigureOut">
              <a:rPr lang="en-US" smtClean="0"/>
              <a:pPr/>
              <a:t>3/15/2026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62F82-EA1A-4B02-8A64-3B44C0D9DA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1078" y="236364"/>
            <a:ext cx="4114800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5EF32-1CA9-4CDA-8182-2FB0C30A0F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3649" y="6215870"/>
            <a:ext cx="979151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15108C-154A-4A5A-9C05-91A49A422BA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63BAC6E0-ADAC-40FB-AF53-88FA5F8373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4" y="151621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1351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1" r:id="rId6"/>
    <p:sldLayoutId id="2147483727" r:id="rId7"/>
    <p:sldLayoutId id="2147483728" r:id="rId8"/>
    <p:sldLayoutId id="2147483729" r:id="rId9"/>
    <p:sldLayoutId id="2147483730" r:id="rId10"/>
    <p:sldLayoutId id="2147483732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45500-E1CD-052C-1B29-1F010B7D4F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1712" y="422095"/>
            <a:ext cx="10495904" cy="671404"/>
          </a:xfrm>
        </p:spPr>
        <p:txBody>
          <a:bodyPr>
            <a:noAutofit/>
          </a:bodyPr>
          <a:lstStyle/>
          <a:p>
            <a:r>
              <a:rPr lang="en-IN" sz="4400" b="1" dirty="0">
                <a:solidFill>
                  <a:srgbClr val="0070C0"/>
                </a:solidFill>
              </a:rPr>
              <a:t>About Wavecon</a:t>
            </a:r>
          </a:p>
        </p:txBody>
      </p:sp>
      <p:sp>
        <p:nvSpPr>
          <p:cNvPr id="16" name="Rectangle 13">
            <a:extLst>
              <a:ext uri="{FF2B5EF4-FFF2-40B4-BE49-F238E27FC236}">
                <a16:creationId xmlns:a16="http://schemas.microsoft.com/office/drawing/2014/main" id="{9B268DCD-D41A-66AD-669C-6A693981AB3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65835" y="1280072"/>
            <a:ext cx="11310588" cy="48628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Wavecon Telecom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a leading provider of mobile network and internet services across India.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Recently launched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5G services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major cities, offering:</a:t>
            </a:r>
          </a:p>
          <a:p>
            <a:pPr lvl="1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Faster speeds</a:t>
            </a:r>
          </a:p>
          <a:p>
            <a:pPr lvl="1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Lower latency</a:t>
            </a:r>
          </a:p>
          <a:p>
            <a:pPr lvl="1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Enhanced digital experience compared to 4G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Supports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161+ million active subscribers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nationwide.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Offers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wide portfolio of plans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from affordable entry-level packs to premium high-speed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bundles.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5. Provides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integrated voice, data, and digital solutions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meet evolving customer needs.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6.This project evaluates Wavecon’s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business performance before and after the 5G rollout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focusing on:</a:t>
            </a:r>
          </a:p>
          <a:p>
            <a:pPr lvl="1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Revenue trends</a:t>
            </a:r>
          </a:p>
          <a:p>
            <a:pPr lvl="1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Active user growth and churn</a:t>
            </a:r>
          </a:p>
          <a:p>
            <a:pPr lvl="1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Plan-wise performance</a:t>
            </a:r>
          </a:p>
        </p:txBody>
      </p:sp>
    </p:spTree>
    <p:extLst>
      <p:ext uri="{BB962C8B-B14F-4D97-AF65-F5344CB8AC3E}">
        <p14:creationId xmlns:p14="http://schemas.microsoft.com/office/powerpoint/2010/main" val="199430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BC824-471B-8B7D-37BC-B423AC95B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7057" y="359229"/>
            <a:ext cx="10069286" cy="696686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AD-HOC REQUESTS</a:t>
            </a:r>
            <a:endParaRPr lang="en-IN" dirty="0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FD13D86A-02C0-FC20-FA90-3EB3B9EAC5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014" y="489858"/>
            <a:ext cx="9241972" cy="62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7793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8FE4E-1658-4DC7-E3C2-ED7DECB56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258" y="380417"/>
            <a:ext cx="8555790" cy="500742"/>
          </a:xfrm>
        </p:spPr>
        <p:txBody>
          <a:bodyPr>
            <a:noAutofit/>
          </a:bodyPr>
          <a:lstStyle/>
          <a:p>
            <a:r>
              <a:rPr lang="en-US" sz="2400" dirty="0"/>
              <a:t>Req 1. What is the impact of the 5G launch on our revenue?</a:t>
            </a:r>
            <a:endParaRPr lang="en-IN" sz="2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656F077-EA57-7CDC-0365-DF75320CD6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226" y="1114523"/>
            <a:ext cx="3238541" cy="26979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E7D5CE4-4D6F-0144-4DB6-30A0DAB9AB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612" y="4390409"/>
            <a:ext cx="3174602" cy="1789866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AA24FBD6-6E07-51F9-4B09-8C69B2D686D6}"/>
              </a:ext>
            </a:extLst>
          </p:cNvPr>
          <p:cNvSpPr txBox="1"/>
          <p:nvPr/>
        </p:nvSpPr>
        <p:spPr>
          <a:xfrm>
            <a:off x="378226" y="6260911"/>
            <a:ext cx="68394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Insight: </a:t>
            </a:r>
            <a:r>
              <a:rPr lang="en-US" sz="1600" dirty="0"/>
              <a:t>Revenue remained stable across months with minor fluctuations.</a:t>
            </a:r>
            <a:endParaRPr lang="en-IN" sz="1600" dirty="0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83C873C0-F702-B066-37D7-5408181CB9CE}"/>
              </a:ext>
            </a:extLst>
          </p:cNvPr>
          <p:cNvSpPr/>
          <p:nvPr/>
        </p:nvSpPr>
        <p:spPr>
          <a:xfrm>
            <a:off x="8371115" y="1604785"/>
            <a:ext cx="3659800" cy="88363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</a:rPr>
              <a:t>Insight: </a:t>
            </a:r>
            <a:r>
              <a:rPr lang="en-US" sz="1600" dirty="0">
                <a:solidFill>
                  <a:schemeClr val="tx1"/>
                </a:solidFill>
              </a:rPr>
              <a:t>Slight dip in total revenue post-launch, indicating neutral short-term impact.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2E74EC42-0950-29D0-2B9C-F451459D0073}"/>
              </a:ext>
            </a:extLst>
          </p:cNvPr>
          <p:cNvSpPr/>
          <p:nvPr/>
        </p:nvSpPr>
        <p:spPr>
          <a:xfrm>
            <a:off x="8371114" y="3124200"/>
            <a:ext cx="3659800" cy="364671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br>
              <a:rPr lang="en-US" sz="1400" b="1" dirty="0">
                <a:solidFill>
                  <a:schemeClr val="tx1"/>
                </a:solidFill>
              </a:rPr>
            </a:br>
            <a:r>
              <a:rPr lang="en-US" sz="1400" b="1" dirty="0">
                <a:solidFill>
                  <a:schemeClr val="tx1"/>
                </a:solidFill>
              </a:rPr>
              <a:t>Overall Summary</a:t>
            </a:r>
            <a:br>
              <a:rPr lang="en-US" sz="1400" b="1" dirty="0">
                <a:solidFill>
                  <a:schemeClr val="tx1"/>
                </a:solidFill>
              </a:rPr>
            </a:br>
            <a:endParaRPr lang="en-US" sz="1400" b="1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solidFill>
                  <a:schemeClr val="tx1"/>
                </a:solidFill>
              </a:rPr>
              <a:t>Wavecon recorded a </a:t>
            </a:r>
            <a:r>
              <a:rPr lang="en-US" sz="1400" b="1" dirty="0">
                <a:solidFill>
                  <a:schemeClr val="tx1"/>
                </a:solidFill>
              </a:rPr>
              <a:t>marginal decline</a:t>
            </a:r>
            <a:r>
              <a:rPr lang="en-US" sz="1400" dirty="0">
                <a:solidFill>
                  <a:schemeClr val="tx1"/>
                </a:solidFill>
              </a:rPr>
              <a:t> in revenue post-5G.</a:t>
            </a:r>
            <a:br>
              <a:rPr lang="en-US" sz="1400" dirty="0">
                <a:solidFill>
                  <a:schemeClr val="tx1"/>
                </a:solidFill>
              </a:rPr>
            </a:br>
            <a:endParaRPr lang="en-US" sz="1400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400" b="1" dirty="0">
                <a:solidFill>
                  <a:schemeClr val="tx1"/>
                </a:solidFill>
              </a:rPr>
              <a:t>Metro cities</a:t>
            </a:r>
            <a:r>
              <a:rPr lang="en-US" sz="1400" dirty="0">
                <a:solidFill>
                  <a:schemeClr val="tx1"/>
                </a:solidFill>
              </a:rPr>
              <a:t> showed mixed performance.</a:t>
            </a:r>
            <a:br>
              <a:rPr lang="en-US" sz="1400" dirty="0">
                <a:solidFill>
                  <a:schemeClr val="tx1"/>
                </a:solidFill>
              </a:rPr>
            </a:br>
            <a:endParaRPr lang="en-US" sz="1400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400" b="1" dirty="0">
                <a:solidFill>
                  <a:schemeClr val="tx1"/>
                </a:solidFill>
              </a:rPr>
              <a:t>Tier-2 cities</a:t>
            </a:r>
            <a:r>
              <a:rPr lang="en-US" sz="1400" dirty="0">
                <a:solidFill>
                  <a:schemeClr val="tx1"/>
                </a:solidFill>
              </a:rPr>
              <a:t> posted slight growth, signaling potential for future expansion.</a:t>
            </a:r>
            <a:br>
              <a:rPr lang="en-US" sz="1400" dirty="0">
                <a:solidFill>
                  <a:schemeClr val="tx1"/>
                </a:solidFill>
              </a:rPr>
            </a:br>
            <a:endParaRPr lang="en-US" sz="1400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solidFill>
                  <a:schemeClr val="tx1"/>
                </a:solidFill>
              </a:rPr>
              <a:t>Overall, 5G launch did not immediately boost revenue but shows promise in emerging regions.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E31FBAC-3488-04CA-D5D6-F3BC13FDDADA}"/>
              </a:ext>
            </a:extLst>
          </p:cNvPr>
          <p:cNvSpPr txBox="1"/>
          <p:nvPr/>
        </p:nvSpPr>
        <p:spPr>
          <a:xfrm>
            <a:off x="3797940" y="1365030"/>
            <a:ext cx="4196062" cy="224676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b="1" dirty="0"/>
              <a:t>City-Level Performance</a:t>
            </a:r>
            <a:br>
              <a:rPr lang="en-IN" sz="1400" b="1" dirty="0"/>
            </a:br>
            <a:endParaRPr lang="en-IN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>
                <a:effectLst/>
              </a:rPr>
              <a:t>Positive Growth Cities:</a:t>
            </a:r>
            <a:br>
              <a:rPr lang="en-IN" sz="1400" b="1" dirty="0">
                <a:effectLst/>
              </a:rPr>
            </a:br>
            <a:r>
              <a:rPr lang="en-IN" sz="1400" b="1" dirty="0">
                <a:effectLst/>
              </a:rPr>
              <a:t>     </a:t>
            </a:r>
            <a:r>
              <a:rPr lang="en-IN" sz="1400" dirty="0"/>
              <a:t>Mumbai, Bangalore, Patna, Pune, Gurgaon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>
                <a:effectLst/>
              </a:rPr>
              <a:t>Declining Cities:</a:t>
            </a:r>
            <a:br>
              <a:rPr lang="en-IN" sz="1400" b="1" dirty="0">
                <a:effectLst/>
              </a:rPr>
            </a:br>
            <a:r>
              <a:rPr lang="en-IN" sz="1400" b="1" dirty="0">
                <a:effectLst/>
              </a:rPr>
              <a:t>      </a:t>
            </a:r>
            <a:r>
              <a:rPr lang="en-IN" sz="1400" dirty="0"/>
              <a:t>Delhi, Chennai, Kolkata, Hyderabad</a:t>
            </a:r>
            <a:br>
              <a:rPr lang="en-IN" sz="1400" dirty="0"/>
            </a:br>
            <a:endParaRPr lang="en-IN" sz="1400" dirty="0"/>
          </a:p>
          <a:p>
            <a:r>
              <a:rPr lang="en-IN" sz="1400" b="1" dirty="0">
                <a:effectLst/>
              </a:rPr>
              <a:t>Insight: </a:t>
            </a:r>
            <a:r>
              <a:rPr lang="en-IN" sz="1400" dirty="0">
                <a:effectLst/>
              </a:rPr>
              <a:t>Metro cities show mixed results; Tier-2 cities like Patna and Jaipur show early adoption momentum.</a:t>
            </a:r>
            <a:endParaRPr lang="en-IN" sz="1400" dirty="0"/>
          </a:p>
        </p:txBody>
      </p:sp>
      <p:graphicFrame>
        <p:nvGraphicFramePr>
          <p:cNvPr id="49" name="Table 48">
            <a:extLst>
              <a:ext uri="{FF2B5EF4-FFF2-40B4-BE49-F238E27FC236}">
                <a16:creationId xmlns:a16="http://schemas.microsoft.com/office/drawing/2014/main" id="{93CED5F2-C0A6-8823-8BEF-E5D667155B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5517452"/>
              </p:ext>
            </p:extLst>
          </p:nvPr>
        </p:nvGraphicFramePr>
        <p:xfrm>
          <a:off x="3797940" y="4656275"/>
          <a:ext cx="2990472" cy="1524000"/>
        </p:xfrm>
        <a:graphic>
          <a:graphicData uri="http://schemas.openxmlformats.org/drawingml/2006/table">
            <a:tbl>
              <a:tblPr/>
              <a:tblGrid>
                <a:gridCol w="1079470">
                  <a:extLst>
                    <a:ext uri="{9D8B030D-6E8A-4147-A177-3AD203B41FA5}">
                      <a16:colId xmlns:a16="http://schemas.microsoft.com/office/drawing/2014/main" val="2893793765"/>
                    </a:ext>
                  </a:extLst>
                </a:gridCol>
                <a:gridCol w="1035102">
                  <a:extLst>
                    <a:ext uri="{9D8B030D-6E8A-4147-A177-3AD203B41FA5}">
                      <a16:colId xmlns:a16="http://schemas.microsoft.com/office/drawing/2014/main" val="1301369858"/>
                    </a:ext>
                  </a:extLst>
                </a:gridCol>
                <a:gridCol w="875900">
                  <a:extLst>
                    <a:ext uri="{9D8B030D-6E8A-4147-A177-3AD203B41FA5}">
                      <a16:colId xmlns:a16="http://schemas.microsoft.com/office/drawing/2014/main" val="41527918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Month Pair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Before 5G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After 5G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65767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Jan / Jun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₹3.58bn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₹3.54bn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0452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Feb / Jul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₹4.26bn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₹4.13bn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94744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Mar / Aug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₹4.19bn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₹4.10bn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02051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Apr / Sep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₹4.00bn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₹4.07bn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268874"/>
                  </a:ext>
                </a:extLst>
              </a:tr>
            </a:tbl>
          </a:graphicData>
        </a:graphic>
      </p:graphicFrame>
      <p:sp>
        <p:nvSpPr>
          <p:cNvPr id="50" name="Rectangle 1">
            <a:extLst>
              <a:ext uri="{FF2B5EF4-FFF2-40B4-BE49-F238E27FC236}">
                <a16:creationId xmlns:a16="http://schemas.microsoft.com/office/drawing/2014/main" id="{5EA34795-ED6A-346A-ADFB-F493CF7687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7940" y="4221376"/>
            <a:ext cx="2990472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Monthly Revenue Comparison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AAE458EC-6928-9CFD-3AE1-EB8280C9C3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1114" y="881159"/>
            <a:ext cx="3563782" cy="598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7733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4AC018B-EEC3-642F-59AB-41A12CF7F7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0847" y="2796039"/>
            <a:ext cx="4862732" cy="5483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526311A-396B-9C2C-B02D-627A2B9DFF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153" y="1916120"/>
            <a:ext cx="1584624" cy="72628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6E27647-3181-1ED2-EEDF-1269F0ED5C55}"/>
              </a:ext>
            </a:extLst>
          </p:cNvPr>
          <p:cNvSpPr txBox="1"/>
          <p:nvPr/>
        </p:nvSpPr>
        <p:spPr>
          <a:xfrm>
            <a:off x="891323" y="1483223"/>
            <a:ext cx="2589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Total Active Users</a:t>
            </a: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1ABD1A7-3F25-D17D-F42D-3162DA1DF3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847" y="4949313"/>
            <a:ext cx="4862732" cy="54404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31AE9E2-B4FC-C42C-76E9-D0C063497D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9405" y="4149710"/>
            <a:ext cx="1589767" cy="70723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D07E2F2-AF00-0298-90B2-42B04553CFE3}"/>
              </a:ext>
            </a:extLst>
          </p:cNvPr>
          <p:cNvSpPr txBox="1"/>
          <p:nvPr/>
        </p:nvSpPr>
        <p:spPr>
          <a:xfrm>
            <a:off x="913845" y="3688010"/>
            <a:ext cx="2791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Total </a:t>
            </a:r>
            <a:r>
              <a:rPr lang="en-IN" dirty="0">
                <a:effectLst/>
              </a:rPr>
              <a:t>unsubscribed Users</a:t>
            </a:r>
            <a:endParaRPr lang="en-IN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848C207-24C3-4D4B-6C5F-46D5B3FAED04}"/>
              </a:ext>
            </a:extLst>
          </p:cNvPr>
          <p:cNvSpPr/>
          <p:nvPr/>
        </p:nvSpPr>
        <p:spPr>
          <a:xfrm>
            <a:off x="6660903" y="1151554"/>
            <a:ext cx="5338103" cy="260062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</a:rPr>
              <a:t>  Underperforming KPIs</a:t>
            </a:r>
            <a:br>
              <a:rPr lang="en-US" sz="1600" b="1" dirty="0">
                <a:solidFill>
                  <a:schemeClr val="tx1"/>
                </a:solidFill>
              </a:rPr>
            </a:br>
            <a:endParaRPr lang="en-US" sz="1600" b="1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  <a:effectLst/>
              </a:rPr>
              <a:t>Active Users dropped</a:t>
            </a:r>
            <a:r>
              <a:rPr lang="en-US" sz="1600" dirty="0">
                <a:solidFill>
                  <a:schemeClr val="tx1"/>
                </a:solidFill>
                <a:effectLst/>
              </a:rPr>
              <a:t> significantly, indicating a decline in customer base.</a:t>
            </a:r>
            <a:br>
              <a:rPr lang="en-US" sz="1600" dirty="0">
                <a:solidFill>
                  <a:schemeClr val="tx1"/>
                </a:solidFill>
                <a:effectLst/>
              </a:rPr>
            </a:br>
            <a:endParaRPr lang="en-US" sz="16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  <a:effectLst/>
              </a:rPr>
              <a:t>Unsubscribed Users increased</a:t>
            </a:r>
            <a:r>
              <a:rPr lang="en-US" sz="1600" dirty="0">
                <a:solidFill>
                  <a:schemeClr val="tx1"/>
                </a:solidFill>
                <a:effectLst/>
              </a:rPr>
              <a:t>, showing higher churn post-5G.</a:t>
            </a:r>
            <a:br>
              <a:rPr lang="en-US" sz="1600" dirty="0">
                <a:solidFill>
                  <a:schemeClr val="tx1"/>
                </a:solidFill>
                <a:effectLst/>
              </a:rPr>
            </a:br>
            <a:endParaRPr lang="en-US" sz="16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effectLst/>
              </a:rPr>
              <a:t>While </a:t>
            </a:r>
            <a:r>
              <a:rPr lang="en-US" sz="1600" b="1" dirty="0">
                <a:solidFill>
                  <a:schemeClr val="tx1"/>
                </a:solidFill>
                <a:effectLst/>
              </a:rPr>
              <a:t>ARPU improved</a:t>
            </a:r>
            <a:r>
              <a:rPr lang="en-US" sz="1600" dirty="0">
                <a:solidFill>
                  <a:schemeClr val="tx1"/>
                </a:solidFill>
                <a:effectLst/>
              </a:rPr>
              <a:t>, it wasn’t enough to offset the loss in subscribers.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8C4BAC1-3E00-4FC2-FC4C-902B696EFE15}"/>
              </a:ext>
            </a:extLst>
          </p:cNvPr>
          <p:cNvSpPr/>
          <p:nvPr/>
        </p:nvSpPr>
        <p:spPr>
          <a:xfrm>
            <a:off x="6660902" y="3898034"/>
            <a:ext cx="5338104" cy="267582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br>
              <a:rPr lang="en-US" sz="1600" b="1" dirty="0"/>
            </a:br>
            <a:r>
              <a:rPr lang="en-US" sz="1600" b="1" dirty="0"/>
              <a:t> Insights</a:t>
            </a:r>
            <a:br>
              <a:rPr lang="en-US" sz="1600" b="1" dirty="0"/>
            </a:br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effectLst/>
              </a:rPr>
              <a:t>The 5G rollout brought better speed and experience, but </a:t>
            </a:r>
            <a:r>
              <a:rPr lang="en-US" sz="1600" b="1" dirty="0">
                <a:effectLst/>
              </a:rPr>
              <a:t>customer retention weakened</a:t>
            </a:r>
            <a:r>
              <a:rPr lang="en-US" sz="1600" dirty="0">
                <a:effectLst/>
              </a:rPr>
              <a:t>.</a:t>
            </a:r>
            <a:br>
              <a:rPr lang="en-US" sz="1600" dirty="0">
                <a:effectLst/>
              </a:rPr>
            </a:b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effectLst/>
              </a:rPr>
              <a:t>Strategic actions are needed to </a:t>
            </a:r>
            <a:r>
              <a:rPr lang="en-US" sz="1600" b="1" dirty="0">
                <a:effectLst/>
              </a:rPr>
              <a:t>reduce churn</a:t>
            </a:r>
            <a:r>
              <a:rPr lang="en-US" sz="1600" dirty="0">
                <a:effectLst/>
              </a:rPr>
              <a:t> and </a:t>
            </a:r>
            <a:r>
              <a:rPr lang="en-US" sz="1600" b="1" dirty="0">
                <a:effectLst/>
              </a:rPr>
              <a:t>rebuild user engagement</a:t>
            </a:r>
            <a:r>
              <a:rPr lang="en-US" sz="1600" dirty="0">
                <a:effectLst/>
              </a:rPr>
              <a:t>.</a:t>
            </a:r>
            <a:br>
              <a:rPr lang="en-US" sz="1600" dirty="0">
                <a:effectLst/>
              </a:rPr>
            </a:b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effectLst/>
              </a:rPr>
              <a:t>Focus should shift to </a:t>
            </a:r>
            <a:r>
              <a:rPr lang="en-US" sz="1600" b="1" dirty="0">
                <a:effectLst/>
              </a:rPr>
              <a:t>customer satisfaction, plan relevance</a:t>
            </a:r>
            <a:r>
              <a:rPr lang="en-US" sz="1600" dirty="0">
                <a:effectLst/>
              </a:rPr>
              <a:t>, and </a:t>
            </a:r>
            <a:r>
              <a:rPr lang="en-US" sz="1600" b="1" dirty="0">
                <a:effectLst/>
              </a:rPr>
              <a:t>targeted retention campaigns</a:t>
            </a:r>
            <a:r>
              <a:rPr lang="en-US" sz="1600" dirty="0">
                <a:effectLst/>
              </a:rPr>
              <a:t>.</a:t>
            </a:r>
            <a:endParaRPr lang="en-US" sz="1600" dirty="0"/>
          </a:p>
          <a:p>
            <a:pPr algn="ctr"/>
            <a:endParaRPr lang="en-IN" sz="1600" dirty="0"/>
          </a:p>
        </p:txBody>
      </p:sp>
      <p:sp>
        <p:nvSpPr>
          <p:cNvPr id="22" name="Title 21">
            <a:extLst>
              <a:ext uri="{FF2B5EF4-FFF2-40B4-BE49-F238E27FC236}">
                <a16:creationId xmlns:a16="http://schemas.microsoft.com/office/drawing/2014/main" id="{E7F96F93-9568-DA29-D830-092BB8F85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598" y="451133"/>
            <a:ext cx="10325000" cy="818925"/>
          </a:xfrm>
        </p:spPr>
        <p:txBody>
          <a:bodyPr>
            <a:noAutofit/>
          </a:bodyPr>
          <a:lstStyle/>
          <a:p>
            <a:r>
              <a:rPr lang="en-US" sz="2400" dirty="0"/>
              <a:t>Req 2. Which KPI is underperforming after the 5G launch?</a:t>
            </a:r>
            <a:br>
              <a:rPr lang="en-US" sz="2400" dirty="0"/>
            </a:b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0046141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291E3-BBE7-E49A-03B0-61BB0D773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24" y="75044"/>
            <a:ext cx="7346015" cy="413886"/>
          </a:xfrm>
        </p:spPr>
        <p:txBody>
          <a:bodyPr>
            <a:noAutofit/>
          </a:bodyPr>
          <a:lstStyle/>
          <a:p>
            <a:r>
              <a:rPr lang="en-IN" sz="2400" dirty="0"/>
              <a:t>Req 3.   </a:t>
            </a:r>
            <a:r>
              <a:rPr lang="en-IN" sz="2400" b="1" dirty="0"/>
              <a:t>Post 5G – Plan Performance Analysis</a:t>
            </a:r>
            <a:endParaRPr lang="en-IN" sz="24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055E9EF-E986-B7C3-9573-A136D34D3EF2}"/>
              </a:ext>
            </a:extLst>
          </p:cNvPr>
          <p:cNvSpPr/>
          <p:nvPr/>
        </p:nvSpPr>
        <p:spPr>
          <a:xfrm>
            <a:off x="479324" y="704786"/>
            <a:ext cx="7673276" cy="239455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br>
              <a:rPr lang="en-IN" sz="1400" b="1" dirty="0">
                <a:solidFill>
                  <a:schemeClr val="tx1"/>
                </a:solidFill>
              </a:rPr>
            </a:br>
            <a:r>
              <a:rPr lang="en-IN" sz="1400" b="1" dirty="0">
                <a:solidFill>
                  <a:schemeClr val="tx1"/>
                </a:solidFill>
              </a:rPr>
              <a:t>High-Performing Plans</a:t>
            </a:r>
            <a:br>
              <a:rPr lang="en-IN" sz="1400" b="1" dirty="0">
                <a:solidFill>
                  <a:schemeClr val="tx1"/>
                </a:solidFill>
              </a:rPr>
            </a:br>
            <a:endParaRPr lang="en-IN" sz="1400" b="1" dirty="0">
              <a:solidFill>
                <a:schemeClr val="tx1"/>
              </a:solidFill>
            </a:endParaRPr>
          </a:p>
          <a:p>
            <a:r>
              <a:rPr lang="en-IN" sz="1400" b="1" dirty="0">
                <a:solidFill>
                  <a:schemeClr val="tx1"/>
                </a:solidFill>
                <a:effectLst/>
              </a:rPr>
              <a:t>P1 – Smart Recharge Pack (2 GB/day, 3 months)</a:t>
            </a:r>
            <a:endParaRPr lang="en-IN" sz="1400" dirty="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  <a:effectLst/>
              </a:rPr>
              <a:t>Revenue grew from ₹1.81bn → ₹2.39bn (+35%)</a:t>
            </a:r>
            <a:endParaRPr lang="en-IN" sz="1400" dirty="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  <a:effectLst/>
              </a:rPr>
              <a:t>Longer duration pack, stable demand, minimal churn.</a:t>
            </a:r>
            <a:endParaRPr lang="en-IN" sz="1400" dirty="0">
              <a:solidFill>
                <a:schemeClr val="tx1"/>
              </a:solidFill>
            </a:endParaRPr>
          </a:p>
          <a:p>
            <a:r>
              <a:rPr lang="en-IN" sz="1400" b="1" dirty="0">
                <a:solidFill>
                  <a:schemeClr val="tx1"/>
                </a:solidFill>
                <a:effectLst/>
              </a:rPr>
              <a:t>Newly Launched 5G Packs:</a:t>
            </a:r>
            <a:endParaRPr lang="en-IN" sz="1400" dirty="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b="1" dirty="0">
                <a:solidFill>
                  <a:schemeClr val="tx1"/>
                </a:solidFill>
                <a:effectLst/>
              </a:rPr>
              <a:t>P11 – Ultra Fast Mega Pack (3 GB/day, 80 days):</a:t>
            </a:r>
            <a:r>
              <a:rPr lang="en-IN" sz="1400" dirty="0">
                <a:solidFill>
                  <a:schemeClr val="tx1"/>
                </a:solidFill>
                <a:effectLst/>
              </a:rPr>
              <a:t> ₹1.9bn, attracting premium users.</a:t>
            </a:r>
            <a:endParaRPr lang="en-IN" sz="1400" dirty="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b="1" dirty="0">
                <a:solidFill>
                  <a:schemeClr val="tx1"/>
                </a:solidFill>
                <a:effectLst/>
              </a:rPr>
              <a:t>P12 – Ultra Duo Data Pack (1.8 GB/day, 55 days):</a:t>
            </a:r>
            <a:r>
              <a:rPr lang="en-IN" sz="1400" dirty="0">
                <a:solidFill>
                  <a:schemeClr val="tx1"/>
                </a:solidFill>
                <a:effectLst/>
              </a:rPr>
              <a:t> ₹1.2bn, strong adoption.</a:t>
            </a:r>
            <a:br>
              <a:rPr lang="en-IN" sz="1400" dirty="0">
                <a:solidFill>
                  <a:schemeClr val="tx1"/>
                </a:solidFill>
                <a:effectLst/>
              </a:rPr>
            </a:br>
            <a:endParaRPr lang="en-IN" sz="1400" dirty="0">
              <a:solidFill>
                <a:schemeClr val="tx1"/>
              </a:solidFill>
            </a:endParaRPr>
          </a:p>
          <a:p>
            <a:r>
              <a:rPr lang="en-IN" sz="1400" dirty="0">
                <a:solidFill>
                  <a:schemeClr val="tx1"/>
                </a:solidFill>
                <a:effectLst/>
              </a:rPr>
              <a:t>Insight: Customers are migrating toward </a:t>
            </a:r>
            <a:r>
              <a:rPr lang="en-IN" sz="1400" b="1" dirty="0">
                <a:solidFill>
                  <a:schemeClr val="tx1"/>
                </a:solidFill>
                <a:effectLst/>
              </a:rPr>
              <a:t>premium, long-duration 5G plans</a:t>
            </a:r>
            <a:r>
              <a:rPr lang="en-IN" sz="1400" dirty="0">
                <a:solidFill>
                  <a:schemeClr val="tx1"/>
                </a:solidFill>
                <a:effectLst/>
              </a:rPr>
              <a:t>.</a:t>
            </a:r>
            <a:endParaRPr lang="en-IN" sz="1400" dirty="0">
              <a:solidFill>
                <a:schemeClr val="tx1"/>
              </a:solidFill>
            </a:endParaRPr>
          </a:p>
          <a:p>
            <a:pPr algn="ctr"/>
            <a:endParaRPr lang="en-IN" sz="1400" dirty="0">
              <a:solidFill>
                <a:schemeClr val="tx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B9C5751-A154-F337-7D21-A01D38903C36}"/>
              </a:ext>
            </a:extLst>
          </p:cNvPr>
          <p:cNvSpPr/>
          <p:nvPr/>
        </p:nvSpPr>
        <p:spPr>
          <a:xfrm>
            <a:off x="479324" y="3229276"/>
            <a:ext cx="7673276" cy="105877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400" b="1" dirty="0">
                <a:solidFill>
                  <a:schemeClr val="tx1"/>
                </a:solidFill>
              </a:rPr>
              <a:t>Mid-Performing / Stable Plans</a:t>
            </a:r>
            <a:br>
              <a:rPr lang="en-IN" sz="1400" b="1" dirty="0">
                <a:solidFill>
                  <a:schemeClr val="tx1"/>
                </a:solidFill>
              </a:rPr>
            </a:br>
            <a:endParaRPr lang="en-IN" sz="1400" b="1" dirty="0">
              <a:solidFill>
                <a:schemeClr val="tx1"/>
              </a:solidFill>
            </a:endParaRPr>
          </a:p>
          <a:p>
            <a:r>
              <a:rPr lang="en-IN" sz="1400" b="1" dirty="0">
                <a:solidFill>
                  <a:schemeClr val="tx1"/>
                </a:solidFill>
                <a:effectLst/>
              </a:rPr>
              <a:t>P2 – Super Saviour Pack (1.5 GB/day, 56 days):</a:t>
            </a:r>
            <a:r>
              <a:rPr lang="en-IN" sz="1400" dirty="0">
                <a:solidFill>
                  <a:schemeClr val="tx1"/>
                </a:solidFill>
                <a:effectLst/>
              </a:rPr>
              <a:t> ~₹1.5bn, steady revenue.</a:t>
            </a:r>
            <a:endParaRPr lang="en-IN" sz="1400" dirty="0">
              <a:solidFill>
                <a:schemeClr val="tx1"/>
              </a:solidFill>
            </a:endParaRPr>
          </a:p>
          <a:p>
            <a:r>
              <a:rPr lang="en-IN" sz="1400" b="1" dirty="0">
                <a:solidFill>
                  <a:schemeClr val="tx1"/>
                </a:solidFill>
                <a:effectLst/>
              </a:rPr>
              <a:t>P3 – Elite Saver Pack (1 GB/day, 28 days):</a:t>
            </a:r>
            <a:r>
              <a:rPr lang="en-IN" sz="1400" dirty="0">
                <a:solidFill>
                  <a:schemeClr val="tx1"/>
                </a:solidFill>
                <a:effectLst/>
              </a:rPr>
              <a:t> ~₹1.3bn, consistent demand.</a:t>
            </a:r>
            <a:endParaRPr lang="en-IN" sz="1400" dirty="0">
              <a:solidFill>
                <a:schemeClr val="tx1"/>
              </a:solidFill>
            </a:endParaRPr>
          </a:p>
          <a:p>
            <a:r>
              <a:rPr lang="en-IN" sz="1400" dirty="0">
                <a:solidFill>
                  <a:schemeClr val="tx1"/>
                </a:solidFill>
                <a:effectLst/>
              </a:rPr>
              <a:t>Insight: These plans provide a </a:t>
            </a:r>
            <a:r>
              <a:rPr lang="en-IN" sz="1400" b="1" dirty="0">
                <a:solidFill>
                  <a:schemeClr val="tx1"/>
                </a:solidFill>
                <a:effectLst/>
              </a:rPr>
              <a:t>stable base</a:t>
            </a:r>
            <a:r>
              <a:rPr lang="en-IN" sz="1400" dirty="0">
                <a:solidFill>
                  <a:schemeClr val="tx1"/>
                </a:solidFill>
                <a:effectLst/>
              </a:rPr>
              <a:t>, but no major uplift post-5G</a:t>
            </a:r>
            <a:endParaRPr lang="en-IN" sz="1400" dirty="0">
              <a:solidFill>
                <a:schemeClr val="tx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EE74A24-43C7-A8FA-B39B-FC529760D547}"/>
              </a:ext>
            </a:extLst>
          </p:cNvPr>
          <p:cNvSpPr/>
          <p:nvPr/>
        </p:nvSpPr>
        <p:spPr>
          <a:xfrm>
            <a:off x="479324" y="4408371"/>
            <a:ext cx="7673276" cy="229081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400" b="1" dirty="0">
                <a:solidFill>
                  <a:schemeClr val="tx1"/>
                </a:solidFill>
              </a:rPr>
              <a:t>Underperforming Plans</a:t>
            </a:r>
            <a:br>
              <a:rPr lang="en-IN" sz="1400" b="1" dirty="0">
                <a:solidFill>
                  <a:schemeClr val="tx1"/>
                </a:solidFill>
              </a:rPr>
            </a:br>
            <a:endParaRPr lang="en-IN" sz="1400" b="1" dirty="0">
              <a:solidFill>
                <a:schemeClr val="tx1"/>
              </a:solidFill>
            </a:endParaRPr>
          </a:p>
          <a:p>
            <a:r>
              <a:rPr lang="en-IN" sz="1400" b="1" dirty="0">
                <a:solidFill>
                  <a:schemeClr val="tx1"/>
                </a:solidFill>
                <a:effectLst/>
              </a:rPr>
              <a:t>P4 – Mini Data Saver Pack (500 MB/day, 20 days):</a:t>
            </a:r>
            <a:r>
              <a:rPr lang="en-IN" sz="1400" dirty="0">
                <a:solidFill>
                  <a:schemeClr val="tx1"/>
                </a:solidFill>
                <a:effectLst/>
              </a:rPr>
              <a:t> Declined ~20%.</a:t>
            </a:r>
            <a:endParaRPr lang="en-IN" sz="1400" dirty="0">
              <a:solidFill>
                <a:schemeClr val="tx1"/>
              </a:solidFill>
            </a:endParaRPr>
          </a:p>
          <a:p>
            <a:r>
              <a:rPr lang="en-IN" sz="1400" b="1" dirty="0">
                <a:solidFill>
                  <a:schemeClr val="tx1"/>
                </a:solidFill>
                <a:effectLst/>
              </a:rPr>
              <a:t>P5 – ₹99 Full Talktime Combo Pack:</a:t>
            </a:r>
            <a:r>
              <a:rPr lang="en-IN" sz="1400" dirty="0">
                <a:solidFill>
                  <a:schemeClr val="tx1"/>
                </a:solidFill>
                <a:effectLst/>
              </a:rPr>
              <a:t> Dropped ~34%.</a:t>
            </a:r>
            <a:endParaRPr lang="en-IN" sz="1400" dirty="0">
              <a:solidFill>
                <a:schemeClr val="tx1"/>
              </a:solidFill>
            </a:endParaRPr>
          </a:p>
          <a:p>
            <a:r>
              <a:rPr lang="en-IN" sz="1400" b="1" dirty="0">
                <a:solidFill>
                  <a:schemeClr val="tx1"/>
                </a:solidFill>
                <a:effectLst/>
              </a:rPr>
              <a:t>P6 – Xstream Mobile Data Pack (15GB, 28 days | 4G):</a:t>
            </a:r>
            <a:r>
              <a:rPr lang="en-IN" sz="1400" dirty="0">
                <a:solidFill>
                  <a:schemeClr val="tx1"/>
                </a:solidFill>
                <a:effectLst/>
              </a:rPr>
              <a:t> Fell ~34%.</a:t>
            </a:r>
            <a:endParaRPr lang="en-IN" sz="1400" dirty="0">
              <a:solidFill>
                <a:schemeClr val="tx1"/>
              </a:solidFill>
            </a:endParaRPr>
          </a:p>
          <a:p>
            <a:r>
              <a:rPr lang="en-IN" sz="1400" b="1" dirty="0">
                <a:solidFill>
                  <a:schemeClr val="tx1"/>
                </a:solidFill>
                <a:effectLst/>
              </a:rPr>
              <a:t>P7 – 25GB Combo 3G/4G Pack:</a:t>
            </a:r>
            <a:r>
              <a:rPr lang="en-IN" sz="1400" dirty="0">
                <a:solidFill>
                  <a:schemeClr val="tx1"/>
                </a:solidFill>
                <a:effectLst/>
              </a:rPr>
              <a:t> Sharp decline (~73%).</a:t>
            </a:r>
            <a:endParaRPr lang="en-IN" sz="1400" dirty="0">
              <a:solidFill>
                <a:schemeClr val="tx1"/>
              </a:solidFill>
            </a:endParaRPr>
          </a:p>
          <a:p>
            <a:r>
              <a:rPr lang="en-IN" sz="1400" b="1" dirty="0">
                <a:solidFill>
                  <a:schemeClr val="tx1"/>
                </a:solidFill>
                <a:effectLst/>
              </a:rPr>
              <a:t>P8–P10:</a:t>
            </a:r>
            <a:r>
              <a:rPr lang="en-IN" sz="1400" dirty="0">
                <a:solidFill>
                  <a:schemeClr val="tx1"/>
                </a:solidFill>
                <a:effectLst/>
              </a:rPr>
              <a:t> Short-validity, low-data packs show minimal interest post-5G.</a:t>
            </a:r>
            <a:br>
              <a:rPr lang="en-IN" sz="1400" dirty="0">
                <a:solidFill>
                  <a:schemeClr val="tx1"/>
                </a:solidFill>
                <a:effectLst/>
              </a:rPr>
            </a:br>
            <a:endParaRPr lang="en-IN" sz="1400" dirty="0">
              <a:solidFill>
                <a:schemeClr val="tx1"/>
              </a:solidFill>
            </a:endParaRPr>
          </a:p>
          <a:p>
            <a:r>
              <a:rPr lang="en-IN" sz="1400" dirty="0">
                <a:solidFill>
                  <a:schemeClr val="tx1"/>
                </a:solidFill>
                <a:effectLst/>
              </a:rPr>
              <a:t>Insight: </a:t>
            </a:r>
            <a:r>
              <a:rPr lang="en-IN" sz="1400" b="1" dirty="0">
                <a:solidFill>
                  <a:schemeClr val="tx1"/>
                </a:solidFill>
                <a:effectLst/>
              </a:rPr>
              <a:t>Small/legacy packs are losing relevance</a:t>
            </a:r>
            <a:r>
              <a:rPr lang="en-IN" sz="1400" dirty="0">
                <a:solidFill>
                  <a:schemeClr val="tx1"/>
                </a:solidFill>
                <a:effectLst/>
              </a:rPr>
              <a:t> as customers migrate to higher-data 5G options.</a:t>
            </a:r>
            <a:endParaRPr lang="en-IN" sz="1400" dirty="0">
              <a:solidFill>
                <a:schemeClr val="tx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5895515-15F4-09DB-6D44-C535CA6C1E44}"/>
              </a:ext>
            </a:extLst>
          </p:cNvPr>
          <p:cNvSpPr/>
          <p:nvPr/>
        </p:nvSpPr>
        <p:spPr>
          <a:xfrm>
            <a:off x="8470232" y="3330340"/>
            <a:ext cx="3619099" cy="336884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br>
              <a:rPr lang="en-IN" sz="1400" b="1" dirty="0">
                <a:solidFill>
                  <a:schemeClr val="tx1"/>
                </a:solidFill>
              </a:rPr>
            </a:br>
            <a:r>
              <a:rPr lang="en-IN" sz="1400" b="1" dirty="0">
                <a:solidFill>
                  <a:schemeClr val="tx1"/>
                </a:solidFill>
              </a:rPr>
              <a:t> Overall Summary</a:t>
            </a:r>
            <a:br>
              <a:rPr lang="en-IN" sz="1400" b="1" dirty="0">
                <a:solidFill>
                  <a:schemeClr val="tx1"/>
                </a:solidFill>
              </a:rPr>
            </a:br>
            <a:endParaRPr lang="en-IN" sz="1400" b="1" dirty="0">
              <a:solidFill>
                <a:schemeClr val="tx1"/>
              </a:solidFill>
            </a:endParaRPr>
          </a:p>
          <a:p>
            <a:r>
              <a:rPr lang="en-IN" sz="1400" b="1" dirty="0">
                <a:solidFill>
                  <a:schemeClr val="tx1"/>
                </a:solidFill>
                <a:effectLst/>
              </a:rPr>
              <a:t>Winners:</a:t>
            </a:r>
            <a:r>
              <a:rPr lang="en-IN" sz="1400" dirty="0">
                <a:solidFill>
                  <a:schemeClr val="tx1"/>
                </a:solidFill>
                <a:effectLst/>
              </a:rPr>
              <a:t> Premium, long-duration 5G packs (P1, P11, P12).</a:t>
            </a:r>
            <a:br>
              <a:rPr lang="en-IN" sz="1400" dirty="0">
                <a:solidFill>
                  <a:schemeClr val="tx1"/>
                </a:solidFill>
                <a:effectLst/>
              </a:rPr>
            </a:br>
            <a:endParaRPr lang="en-IN" sz="1400" dirty="0">
              <a:solidFill>
                <a:schemeClr val="tx1"/>
              </a:solidFill>
            </a:endParaRPr>
          </a:p>
          <a:p>
            <a:r>
              <a:rPr lang="en-IN" sz="1400" b="1" dirty="0">
                <a:solidFill>
                  <a:schemeClr val="tx1"/>
                </a:solidFill>
                <a:effectLst/>
              </a:rPr>
              <a:t>Stable:</a:t>
            </a:r>
            <a:r>
              <a:rPr lang="en-IN" sz="1400" dirty="0">
                <a:solidFill>
                  <a:schemeClr val="tx1"/>
                </a:solidFill>
                <a:effectLst/>
              </a:rPr>
              <a:t> Mid-range packs (P2, P3).</a:t>
            </a:r>
            <a:br>
              <a:rPr lang="en-IN" sz="1400" dirty="0">
                <a:solidFill>
                  <a:schemeClr val="tx1"/>
                </a:solidFill>
                <a:effectLst/>
              </a:rPr>
            </a:br>
            <a:endParaRPr lang="en-IN" sz="1400" dirty="0">
              <a:solidFill>
                <a:schemeClr val="tx1"/>
              </a:solidFill>
            </a:endParaRPr>
          </a:p>
          <a:p>
            <a:r>
              <a:rPr lang="en-IN" sz="1400" b="1" dirty="0">
                <a:solidFill>
                  <a:schemeClr val="tx1"/>
                </a:solidFill>
                <a:effectLst/>
              </a:rPr>
              <a:t>Losers:</a:t>
            </a:r>
            <a:r>
              <a:rPr lang="en-IN" sz="1400" dirty="0">
                <a:solidFill>
                  <a:schemeClr val="tx1"/>
                </a:solidFill>
                <a:effectLst/>
              </a:rPr>
              <a:t> Short-validity, low-data, and legacy 4G packs (P4–P10).</a:t>
            </a:r>
            <a:br>
              <a:rPr lang="en-IN" sz="1400" dirty="0">
                <a:solidFill>
                  <a:schemeClr val="tx1"/>
                </a:solidFill>
                <a:effectLst/>
              </a:rPr>
            </a:br>
            <a:endParaRPr lang="en-IN" sz="1400" dirty="0">
              <a:solidFill>
                <a:schemeClr val="tx1"/>
              </a:solidFill>
            </a:endParaRPr>
          </a:p>
          <a:p>
            <a:r>
              <a:rPr lang="en-IN" sz="1400" dirty="0">
                <a:solidFill>
                  <a:schemeClr val="tx1"/>
                </a:solidFill>
                <a:effectLst/>
              </a:rPr>
              <a:t>Recommendation: Continue promoting </a:t>
            </a:r>
            <a:r>
              <a:rPr lang="en-IN" sz="1400" b="1" dirty="0">
                <a:solidFill>
                  <a:schemeClr val="tx1"/>
                </a:solidFill>
                <a:effectLst/>
              </a:rPr>
              <a:t>premium 5G plans</a:t>
            </a:r>
            <a:r>
              <a:rPr lang="en-IN" sz="1400" dirty="0">
                <a:solidFill>
                  <a:schemeClr val="tx1"/>
                </a:solidFill>
                <a:effectLst/>
              </a:rPr>
              <a:t>, enhance mid-range packs with perks, and phase out obsolete low-data options.</a:t>
            </a:r>
            <a:endParaRPr lang="en-IN" sz="1400" dirty="0">
              <a:solidFill>
                <a:schemeClr val="tx1"/>
              </a:solidFill>
            </a:endParaRPr>
          </a:p>
          <a:p>
            <a:pPr algn="ctr"/>
            <a:endParaRPr lang="en-IN" sz="1400" dirty="0">
              <a:solidFill>
                <a:schemeClr val="tx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69B3AED-F443-60B8-D785-C8220D1715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4354" y="158817"/>
            <a:ext cx="3619099" cy="3108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3525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0042B-3158-55C5-5014-172E3D847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48" y="240632"/>
            <a:ext cx="10965115" cy="809053"/>
          </a:xfrm>
        </p:spPr>
        <p:txBody>
          <a:bodyPr>
            <a:noAutofit/>
          </a:bodyPr>
          <a:lstStyle/>
          <a:p>
            <a:r>
              <a:rPr lang="en-US" sz="2400" dirty="0"/>
              <a:t>Req 4. Is there any plan affected largely by the 5G launch? Should we continue or discontinue that plan?</a:t>
            </a:r>
            <a:endParaRPr lang="en-IN" sz="2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E06E751-744A-23D5-A71C-E8B93169BD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6413" y="1337970"/>
            <a:ext cx="5639587" cy="418205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ED745D8-21D7-3BF8-7501-1CD3FA11D5E0}"/>
              </a:ext>
            </a:extLst>
          </p:cNvPr>
          <p:cNvSpPr/>
          <p:nvPr/>
        </p:nvSpPr>
        <p:spPr>
          <a:xfrm>
            <a:off x="6455229" y="1049685"/>
            <a:ext cx="5469212" cy="548353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Plans Affected Post 5G – Continue or Discontinue?</a:t>
            </a:r>
            <a:br>
              <a:rPr lang="en-US" b="1" dirty="0">
                <a:solidFill>
                  <a:schemeClr val="tx1"/>
                </a:solidFill>
              </a:rPr>
            </a:br>
            <a:endParaRPr lang="en-US" b="1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  <a:effectLst/>
              </a:rPr>
              <a:t>    Comparative Analysis of Subscription Plans</a:t>
            </a:r>
            <a:br>
              <a:rPr lang="en-US" b="1" dirty="0">
                <a:solidFill>
                  <a:schemeClr val="tx1"/>
                </a:solidFill>
                <a:effectLst/>
              </a:rPr>
            </a:br>
            <a:endParaRPr lang="en-US" dirty="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effectLst/>
              </a:rPr>
              <a:t>The table compares revenues </a:t>
            </a:r>
            <a:r>
              <a:rPr lang="en-US" b="1" dirty="0">
                <a:solidFill>
                  <a:schemeClr val="tx1"/>
                </a:solidFill>
                <a:effectLst/>
              </a:rPr>
              <a:t>before and after the 5G launch</a:t>
            </a:r>
            <a:r>
              <a:rPr lang="en-US" dirty="0">
                <a:solidFill>
                  <a:schemeClr val="tx1"/>
                </a:solidFill>
                <a:effectLst/>
              </a:rPr>
              <a:t>.</a:t>
            </a:r>
            <a:br>
              <a:rPr lang="en-US" dirty="0">
                <a:solidFill>
                  <a:schemeClr val="tx1"/>
                </a:solidFill>
                <a:effectLst/>
              </a:rPr>
            </a:br>
            <a:endParaRPr lang="en-US" dirty="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effectLst/>
              </a:rPr>
              <a:t>It highlights </a:t>
            </a:r>
            <a:r>
              <a:rPr lang="en-US" b="1" dirty="0">
                <a:solidFill>
                  <a:schemeClr val="tx1"/>
                </a:solidFill>
                <a:effectLst/>
              </a:rPr>
              <a:t>legacy plans (P1–P10)</a:t>
            </a:r>
            <a:r>
              <a:rPr lang="en-US" dirty="0">
                <a:solidFill>
                  <a:schemeClr val="tx1"/>
                </a:solidFill>
                <a:effectLst/>
              </a:rPr>
              <a:t> that were most impacted.</a:t>
            </a:r>
            <a:br>
              <a:rPr lang="en-US" dirty="0">
                <a:solidFill>
                  <a:schemeClr val="tx1"/>
                </a:solidFill>
                <a:effectLst/>
              </a:rPr>
            </a:br>
            <a:endParaRPr lang="en-US" dirty="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effectLst/>
              </a:rPr>
              <a:t>The analysis captures </a:t>
            </a:r>
            <a:r>
              <a:rPr lang="en-US" b="1" dirty="0">
                <a:solidFill>
                  <a:schemeClr val="tx1"/>
                </a:solidFill>
                <a:effectLst/>
              </a:rPr>
              <a:t>growth trends, stability patterns, and sharp declines</a:t>
            </a:r>
            <a:r>
              <a:rPr lang="en-US" dirty="0">
                <a:solidFill>
                  <a:schemeClr val="tx1"/>
                </a:solidFill>
                <a:effectLst/>
              </a:rPr>
              <a:t>.</a:t>
            </a:r>
            <a:br>
              <a:rPr lang="en-US" dirty="0">
                <a:solidFill>
                  <a:schemeClr val="tx1"/>
                </a:solidFill>
                <a:effectLst/>
              </a:rPr>
            </a:br>
            <a:endParaRPr lang="en-US" dirty="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effectLst/>
              </a:rPr>
              <a:t>Plan 7 (25GB Combo 3G/4G Pack)</a:t>
            </a:r>
            <a:r>
              <a:rPr lang="en-US" dirty="0">
                <a:solidFill>
                  <a:schemeClr val="tx1"/>
                </a:solidFill>
                <a:effectLst/>
              </a:rPr>
              <a:t> recorded the </a:t>
            </a:r>
            <a:r>
              <a:rPr lang="en-US" b="1" dirty="0">
                <a:solidFill>
                  <a:schemeClr val="tx1"/>
                </a:solidFill>
                <a:effectLst/>
              </a:rPr>
              <a:t>largest drop (-73%)</a:t>
            </a:r>
            <a:r>
              <a:rPr lang="en-US" dirty="0">
                <a:solidFill>
                  <a:schemeClr val="tx1"/>
                </a:solidFill>
                <a:effectLst/>
              </a:rPr>
              <a:t>, showing clear customer migration to 5G-enabled packs.</a:t>
            </a:r>
            <a:br>
              <a:rPr lang="en-US" dirty="0">
                <a:solidFill>
                  <a:schemeClr val="tx1"/>
                </a:solidFill>
                <a:effectLst/>
              </a:rPr>
            </a:br>
            <a:endParaRPr lang="en-US" dirty="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effectLst/>
              </a:rPr>
              <a:t>Other short-validity, low-data packs (P4–P6) also declined, though less severely.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07641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CDB3C-4A58-653F-E191-410A3DD73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889" y="211759"/>
            <a:ext cx="11300058" cy="919669"/>
          </a:xfrm>
        </p:spPr>
        <p:txBody>
          <a:bodyPr>
            <a:noAutofit/>
          </a:bodyPr>
          <a:lstStyle/>
          <a:p>
            <a:r>
              <a:rPr lang="en-US" sz="2000" dirty="0"/>
              <a:t>Req 5. Is there any plan that is discontinued after the 5G launch? What is the reason for it?</a:t>
            </a:r>
            <a:br>
              <a:rPr lang="en-US" sz="2000" dirty="0"/>
            </a:br>
            <a:br>
              <a:rPr lang="en-US" sz="2000" dirty="0"/>
            </a:br>
            <a:r>
              <a:rPr lang="en-US" sz="2000" b="1" dirty="0"/>
              <a:t>5G LAUNCH IMPACT</a:t>
            </a:r>
            <a:endParaRPr lang="en-IN" sz="2000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DDB1431-ECAC-7E08-D7ED-42DEFA1552DD}"/>
              </a:ext>
            </a:extLst>
          </p:cNvPr>
          <p:cNvSpPr/>
          <p:nvPr/>
        </p:nvSpPr>
        <p:spPr>
          <a:xfrm>
            <a:off x="490888" y="1186395"/>
            <a:ext cx="7430704" cy="326868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BC5D848-B894-9157-041D-739FC2ECF417}"/>
              </a:ext>
            </a:extLst>
          </p:cNvPr>
          <p:cNvSpPr/>
          <p:nvPr/>
        </p:nvSpPr>
        <p:spPr>
          <a:xfrm>
            <a:off x="385011" y="4596515"/>
            <a:ext cx="7632834" cy="185669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 Key Insight</a:t>
            </a:r>
            <a:br>
              <a:rPr lang="en-US" b="1" dirty="0">
                <a:solidFill>
                  <a:schemeClr val="tx1"/>
                </a:solidFill>
              </a:rPr>
            </a:br>
            <a:endParaRPr lang="en-US" b="1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effectLst/>
              </a:rPr>
              <a:t>Plan 7</a:t>
            </a:r>
            <a:r>
              <a:rPr lang="en-US" dirty="0">
                <a:solidFill>
                  <a:schemeClr val="tx1"/>
                </a:solidFill>
                <a:effectLst/>
              </a:rPr>
              <a:t> is the most severely impacted, with a </a:t>
            </a:r>
            <a:r>
              <a:rPr lang="en-US" b="1" dirty="0">
                <a:solidFill>
                  <a:schemeClr val="tx1"/>
                </a:solidFill>
                <a:effectLst/>
              </a:rPr>
              <a:t>73% revenue decline</a:t>
            </a:r>
            <a:r>
              <a:rPr lang="en-US" dirty="0">
                <a:solidFill>
                  <a:schemeClr val="tx1"/>
                </a:solidFill>
                <a:effectLst/>
              </a:rPr>
              <a:t>.</a:t>
            </a: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effectLst/>
              </a:rPr>
              <a:t>Customers migrated rapidly to </a:t>
            </a:r>
            <a:r>
              <a:rPr lang="en-US" b="1" dirty="0">
                <a:solidFill>
                  <a:schemeClr val="tx1"/>
                </a:solidFill>
                <a:effectLst/>
              </a:rPr>
              <a:t>5G-enabled, high-data, long-duration packs</a:t>
            </a:r>
            <a:r>
              <a:rPr lang="en-US" dirty="0">
                <a:solidFill>
                  <a:schemeClr val="tx1"/>
                </a:solidFill>
                <a:effectLst/>
              </a:rPr>
              <a:t>.</a:t>
            </a: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effectLst/>
              </a:rPr>
              <a:t>Legacy 3G/4G packs lost relevance in the new market landscape.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5BEEC73-5016-8F9F-7AB0-C1B9267E9250}"/>
              </a:ext>
            </a:extLst>
          </p:cNvPr>
          <p:cNvSpPr/>
          <p:nvPr/>
        </p:nvSpPr>
        <p:spPr>
          <a:xfrm>
            <a:off x="8210349" y="1241361"/>
            <a:ext cx="3811605" cy="5211846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chemeClr val="tx1"/>
                </a:solidFill>
              </a:rPr>
              <a:t>  Recommendation</a:t>
            </a:r>
            <a:br>
              <a:rPr lang="en-IN" b="1" dirty="0">
                <a:solidFill>
                  <a:schemeClr val="tx1"/>
                </a:solidFill>
              </a:rPr>
            </a:br>
            <a:endParaRPr lang="en-IN" b="1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tx1"/>
                </a:solidFill>
                <a:effectLst/>
              </a:rPr>
              <a:t>Discontinue Plan 7</a:t>
            </a:r>
            <a:r>
              <a:rPr lang="en-IN" dirty="0">
                <a:solidFill>
                  <a:schemeClr val="tx1"/>
                </a:solidFill>
                <a:effectLst/>
              </a:rPr>
              <a:t> due to sharp decline and poor viability.</a:t>
            </a:r>
            <a:br>
              <a:rPr lang="en-IN" dirty="0">
                <a:solidFill>
                  <a:schemeClr val="tx1"/>
                </a:solidFill>
                <a:effectLst/>
              </a:rPr>
            </a:br>
            <a:endParaRPr lang="en-IN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effectLst/>
              </a:rPr>
              <a:t>Streamline portfolio by phasing out </a:t>
            </a:r>
            <a:r>
              <a:rPr lang="en-IN" b="1" dirty="0">
                <a:solidFill>
                  <a:schemeClr val="tx1"/>
                </a:solidFill>
                <a:effectLst/>
              </a:rPr>
              <a:t>low-data, short-validity legacy packs</a:t>
            </a:r>
            <a:r>
              <a:rPr lang="en-IN" dirty="0">
                <a:solidFill>
                  <a:schemeClr val="tx1"/>
                </a:solidFill>
                <a:effectLst/>
              </a:rPr>
              <a:t> (P4–P6 also declining).</a:t>
            </a:r>
            <a:br>
              <a:rPr lang="en-IN" dirty="0">
                <a:solidFill>
                  <a:schemeClr val="tx1"/>
                </a:solidFill>
                <a:effectLst/>
              </a:rPr>
            </a:br>
            <a:endParaRPr lang="en-IN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effectLst/>
              </a:rPr>
              <a:t>Focus on </a:t>
            </a:r>
            <a:r>
              <a:rPr lang="en-IN" b="1" dirty="0">
                <a:solidFill>
                  <a:schemeClr val="tx1"/>
                </a:solidFill>
                <a:effectLst/>
              </a:rPr>
              <a:t>premium 5G plans (P1, P11, P12)</a:t>
            </a:r>
            <a:r>
              <a:rPr lang="en-IN" dirty="0">
                <a:solidFill>
                  <a:schemeClr val="tx1"/>
                </a:solidFill>
                <a:effectLst/>
              </a:rPr>
              <a:t> and consider introducing </a:t>
            </a:r>
            <a:r>
              <a:rPr lang="en-IN" b="1" dirty="0">
                <a:solidFill>
                  <a:schemeClr val="tx1"/>
                </a:solidFill>
                <a:effectLst/>
              </a:rPr>
              <a:t>new 5G bundles</a:t>
            </a:r>
            <a:r>
              <a:rPr lang="en-IN" dirty="0">
                <a:solidFill>
                  <a:schemeClr val="tx1"/>
                </a:solidFill>
                <a:effectLst/>
              </a:rPr>
              <a:t> with attractive perks to capture demand.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8E2543-213B-1FAA-60BD-6725ED228248}"/>
              </a:ext>
            </a:extLst>
          </p:cNvPr>
          <p:cNvSpPr txBox="1"/>
          <p:nvPr/>
        </p:nvSpPr>
        <p:spPr>
          <a:xfrm>
            <a:off x="490888" y="1241361"/>
            <a:ext cx="5948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Under performing Plan (Revenue Decline)</a:t>
            </a:r>
            <a:endParaRPr lang="en-IN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C10BE4F7-6B48-2AAF-2C5D-3C6AC4C10D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5553428"/>
              </p:ext>
            </p:extLst>
          </p:nvPr>
        </p:nvGraphicFramePr>
        <p:xfrm>
          <a:off x="490887" y="1665659"/>
          <a:ext cx="7430704" cy="2789423"/>
        </p:xfrm>
        <a:graphic>
          <a:graphicData uri="http://schemas.openxmlformats.org/drawingml/2006/table">
            <a:tbl>
              <a:tblPr/>
              <a:tblGrid>
                <a:gridCol w="769678">
                  <a:extLst>
                    <a:ext uri="{9D8B030D-6E8A-4147-A177-3AD203B41FA5}">
                      <a16:colId xmlns:a16="http://schemas.microsoft.com/office/drawing/2014/main" val="4077209182"/>
                    </a:ext>
                  </a:extLst>
                </a:gridCol>
                <a:gridCol w="2945675">
                  <a:extLst>
                    <a:ext uri="{9D8B030D-6E8A-4147-A177-3AD203B41FA5}">
                      <a16:colId xmlns:a16="http://schemas.microsoft.com/office/drawing/2014/main" val="3569779870"/>
                    </a:ext>
                  </a:extLst>
                </a:gridCol>
                <a:gridCol w="1301798">
                  <a:extLst>
                    <a:ext uri="{9D8B030D-6E8A-4147-A177-3AD203B41FA5}">
                      <a16:colId xmlns:a16="http://schemas.microsoft.com/office/drawing/2014/main" val="464539486"/>
                    </a:ext>
                  </a:extLst>
                </a:gridCol>
                <a:gridCol w="1206777">
                  <a:extLst>
                    <a:ext uri="{9D8B030D-6E8A-4147-A177-3AD203B41FA5}">
                      <a16:colId xmlns:a16="http://schemas.microsoft.com/office/drawing/2014/main" val="1670429849"/>
                    </a:ext>
                  </a:extLst>
                </a:gridCol>
                <a:gridCol w="1206776">
                  <a:extLst>
                    <a:ext uri="{9D8B030D-6E8A-4147-A177-3AD203B41FA5}">
                      <a16:colId xmlns:a16="http://schemas.microsoft.com/office/drawing/2014/main" val="685819406"/>
                    </a:ext>
                  </a:extLst>
                </a:gridCol>
              </a:tblGrid>
              <a:tr h="3847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Plan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Plan 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Before 5G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After 5G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% Change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3549887"/>
                  </a:ext>
                </a:extLst>
              </a:tr>
              <a:tr h="6733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P4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Mini Data Saver Pack (500 MB/day, 20 days)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₹1.1B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₹876.6M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-20%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8399254"/>
                  </a:ext>
                </a:extLst>
              </a:tr>
              <a:tr h="6733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P5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₹99 Full Talktime Combo Pack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₹1.0B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₹651.5M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-34%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6650908"/>
                  </a:ext>
                </a:extLst>
              </a:tr>
              <a:tr h="6733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P6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Xstream Mobile Data Pack (15GB, 28 days – 4G)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₹749.1M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₹494.6M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-34%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2825862"/>
                  </a:ext>
                </a:extLst>
              </a:tr>
              <a:tr h="3847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P7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25GB Combo 3G/4G Pack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₹582.4M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₹155.6M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-73%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1118496"/>
                  </a:ext>
                </a:extLst>
              </a:tr>
            </a:tbl>
          </a:graphicData>
        </a:graphic>
      </p:graphicFrame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2C8B792-B253-7051-EDC5-C9B0A79FAE35}"/>
              </a:ext>
            </a:extLst>
          </p:cNvPr>
          <p:cNvCxnSpPr>
            <a:cxnSpLocks/>
          </p:cNvCxnSpPr>
          <p:nvPr/>
        </p:nvCxnSpPr>
        <p:spPr>
          <a:xfrm>
            <a:off x="490887" y="1717059"/>
            <a:ext cx="743070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F0F22FA-061E-8B84-7DC9-4F1E2FC7CDFB}"/>
              </a:ext>
            </a:extLst>
          </p:cNvPr>
          <p:cNvCxnSpPr>
            <a:cxnSpLocks/>
          </p:cNvCxnSpPr>
          <p:nvPr/>
        </p:nvCxnSpPr>
        <p:spPr>
          <a:xfrm>
            <a:off x="490887" y="2022974"/>
            <a:ext cx="743070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2622918"/>
      </p:ext>
    </p:extLst>
  </p:cSld>
  <p:clrMapOvr>
    <a:masterClrMapping/>
  </p:clrMapOvr>
</p:sld>
</file>

<file path=ppt/theme/theme1.xml><?xml version="1.0" encoding="utf-8"?>
<a:theme xmlns:a="http://schemas.openxmlformats.org/drawingml/2006/main" name="CosineVTI">
  <a:themeElements>
    <a:clrScheme name="Custom 133">
      <a:dk1>
        <a:sysClr val="windowText" lastClr="000000"/>
      </a:dk1>
      <a:lt1>
        <a:sysClr val="window" lastClr="FFFFFF"/>
      </a:lt1>
      <a:dk2>
        <a:srgbClr val="2A2735"/>
      </a:dk2>
      <a:lt2>
        <a:srgbClr val="EEEEEE"/>
      </a:lt2>
      <a:accent1>
        <a:srgbClr val="1EBE9B"/>
      </a:accent1>
      <a:accent2>
        <a:srgbClr val="8F99BB"/>
      </a:accent2>
      <a:accent3>
        <a:srgbClr val="FD8686"/>
      </a:accent3>
      <a:accent4>
        <a:srgbClr val="A3A3C1"/>
      </a:accent4>
      <a:accent5>
        <a:srgbClr val="7162FE"/>
      </a:accent5>
      <a:accent6>
        <a:srgbClr val="E76445"/>
      </a:accent6>
      <a:hlink>
        <a:srgbClr val="EF08F7"/>
      </a:hlink>
      <a:folHlink>
        <a:srgbClr val="8477FE"/>
      </a:folHlink>
    </a:clrScheme>
    <a:fontScheme name="Custom 50">
      <a:majorFont>
        <a:latin typeface="Grandview"/>
        <a:ea typeface=""/>
        <a:cs typeface=""/>
      </a:majorFont>
      <a:minorFont>
        <a:latin typeface="Grandvie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sineVTI" id="{4F4449D5-5E9D-4D83-9E2A-939F9CF20276}" vid="{03166EA1-370F-4321-A61E-8851365B431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707</TotalTime>
  <Words>1078</Words>
  <Application>Microsoft Office PowerPoint</Application>
  <PresentationFormat>Widescreen</PresentationFormat>
  <Paragraphs>121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Grandview</vt:lpstr>
      <vt:lpstr>Wingdings</vt:lpstr>
      <vt:lpstr>CosineVTI</vt:lpstr>
      <vt:lpstr>About Wavecon</vt:lpstr>
      <vt:lpstr>AD-HOC REQUESTS</vt:lpstr>
      <vt:lpstr>Req 1. What is the impact of the 5G launch on our revenue?</vt:lpstr>
      <vt:lpstr>Req 2. Which KPI is underperforming after the 5G launch? </vt:lpstr>
      <vt:lpstr>Req 3.   Post 5G – Plan Performance Analysis</vt:lpstr>
      <vt:lpstr>Req 4. Is there any plan affected largely by the 5G launch? Should we continue or discontinue that plan?</vt:lpstr>
      <vt:lpstr>Req 5. Is there any plan that is discontinued after the 5G launch? What is the reason for it?  5G LAUNCH IMPACT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Prachi Jha</dc:creator>
  <cp:lastModifiedBy>Prachi Jha</cp:lastModifiedBy>
  <cp:revision>10</cp:revision>
  <dcterms:created xsi:type="dcterms:W3CDTF">2026-03-15T06:03:21Z</dcterms:created>
  <dcterms:modified xsi:type="dcterms:W3CDTF">2026-03-15T17:52:53Z</dcterms:modified>
</cp:coreProperties>
</file>